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820095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E8E8E8"/>
                </a:solidFill>
                <a:latin typeface="Calibri"/>
              </a:rPr>
              <a:t>Private Assets Frequency Upsampling: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82009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E8E8E8"/>
                </a:solidFill>
                <a:latin typeface="Calibri"/>
              </a:rPr>
              <a:t>Model Architecture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8200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1">
                <a:solidFill>
                  <a:srgbClr val="00B4D8"/>
                </a:solidFill>
                <a:latin typeface="Calibri"/>
              </a:rPr>
              <a:t>Desmoothing  ·  Factor Decomposition  ·  Temporal Disaggregation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A0A8B0"/>
                </a:solidFill>
                <a:latin typeface="Calibri"/>
              </a:rPr>
              <a:t>Quantitative Research  —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The problem we're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Reported indices smooth genuine market moves; risk numbers built on the raw series under-state σ by ~60%.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OBSERVE  vs.  NEED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19456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057400"/>
            <a:ext cx="3291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onsolas"/>
              </a:rPr>
              <a:t>s_t  (smoothed, low-frequency)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219456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81B29A"/>
                </a:solidFill>
                <a:latin typeface="Calibri"/>
              </a:rPr>
              <a:t>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788920"/>
            <a:ext cx="3291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onsolas"/>
              </a:rPr>
              <a:t>r_t  (true, high-frequency)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59436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8B0"/>
                </a:solidFill>
                <a:latin typeface="Calibri"/>
              </a:rPr>
              <a:t>VaR, CVaR, drawdown, capital ratios, factor exposure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8B0"/>
                </a:solidFill>
                <a:latin typeface="Calibri"/>
              </a:rPr>
              <a:t>and cross-asset correlation analytics built on s_t are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8B0"/>
                </a:solidFill>
                <a:latin typeface="Calibri"/>
              </a:rPr>
              <a:t>biased by construction.  None of the standard fixes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8B0"/>
                </a:solidFill>
                <a:latin typeface="Calibri"/>
              </a:rPr>
              <a:t>(rolling windows, GARCH, copulas) recover the latent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8B0"/>
                </a:solidFill>
                <a:latin typeface="Calibri"/>
              </a:rPr>
              <a:t>process — they assume the inputs are already correct.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916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MSCI SIMULATION RESULT  (US Buyout vs. Russell 2000)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194560"/>
            <a:ext cx="228600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D4A843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2194560"/>
            <a:ext cx="86868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D4A843"/>
                </a:solidFill>
                <a:latin typeface="Calibri"/>
              </a:rPr>
              <a:t>vol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2194560"/>
            <a:ext cx="86868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D4A843"/>
                </a:solidFill>
                <a:latin typeface="Calibri"/>
              </a:rPr>
              <a:t>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0" y="2194560"/>
            <a:ext cx="86868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D4A843"/>
                </a:solidFill>
                <a:latin typeface="Calibri"/>
              </a:rPr>
              <a:t>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560320"/>
            <a:ext cx="22860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E07A5F"/>
                </a:solidFill>
                <a:latin typeface="Calibri"/>
              </a:rPr>
              <a:t>Raw observed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56032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5.3%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256032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0.30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0" y="256032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57%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063240"/>
            <a:ext cx="22860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81B29A"/>
                </a:solidFill>
                <a:latin typeface="Calibri"/>
              </a:rPr>
              <a:t>Desmoothed (Bayes)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06324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12.6%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306324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1.01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306324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81%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566160"/>
            <a:ext cx="22860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A0A8B0"/>
                </a:solidFill>
                <a:latin typeface="Calibri"/>
              </a:rPr>
              <a:t>True (latent)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356616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12.5%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356616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1.00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356616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80%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937760"/>
            <a:ext cx="54864" cy="1280160"/>
          </a:xfrm>
          <a:prstGeom prst="rect">
            <a:avLst/>
          </a:prstGeom>
          <a:solidFill>
            <a:srgbClr val="81B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21424" y="4937760"/>
            <a:ext cx="4882896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502920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81B29A"/>
                </a:solidFill>
                <a:latin typeface="Calibri"/>
              </a:rPr>
              <a:t>THE RESULT WE WANT TO REPRODUCE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5349240"/>
            <a:ext cx="45720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The Bayesian desmoother recovers the latent risk to within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sampling error.  The raw series misses 60% of the volatility,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70% of the beta, and 24 ρ-points of public-market correlation.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Five sequential stages.  Each stage is a pluggable component; each emits a validation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212848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STAGE 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221284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E8E8E8"/>
                </a:solidFill>
                <a:latin typeface="Calibri"/>
              </a:rPr>
              <a:t>Preprocessing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06040"/>
            <a:ext cx="221284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Carry / MTM split (credit)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Reporting-lag fix (HF)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Pass-through (PE/RE/Infra)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691640"/>
            <a:ext cx="2212848" cy="45720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STAGE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2148840"/>
            <a:ext cx="221284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E8E8E8"/>
                </a:solidFill>
                <a:latin typeface="Calibri"/>
              </a:rPr>
              <a:t>Desmoothing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2606040"/>
            <a:ext cx="221284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AR(1) Bayesian → PE / RE / Infra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MA(q) GLM → Hedge funds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Threshold AR(1) → Credit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1496" y="1691640"/>
            <a:ext cx="2212848" cy="45720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STAGE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11496" y="2148840"/>
            <a:ext cx="221284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E8E8E8"/>
                </a:solidFill>
                <a:latin typeface="Calibri"/>
              </a:rPr>
              <a:t>Factor decomposition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2606040"/>
            <a:ext cx="221284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OLS / WLS regression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Residual diagnostics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Distribution fitting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5784" y="1691640"/>
            <a:ext cx="2212848" cy="45720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STAGE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15784" y="2148840"/>
            <a:ext cx="221284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E8E8E8"/>
                </a:solidFill>
                <a:latin typeface="Calibri"/>
              </a:rPr>
              <a:t>Temporal disaggregation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15784" y="2606040"/>
            <a:ext cx="221284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Chow-Lin AR(1) residuals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Fernández (RW)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Litterman (Δu AR(1))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20072" y="1691640"/>
            <a:ext cx="2212848" cy="45720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STAGE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0072" y="2148840"/>
            <a:ext cx="221284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E8E8E8"/>
                </a:solidFill>
                <a:latin typeface="Calibri"/>
              </a:rPr>
              <a:t>Daily extension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20072" y="2606040"/>
            <a:ext cx="221284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Mode A: Kalman smoother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Mode B: Monte Carlo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Business-day calendar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79192" y="2221992"/>
            <a:ext cx="164592" cy="164592"/>
          </a:xfrm>
          <a:prstGeom prst="rightArrow">
            <a:avLst/>
          </a:prstGeom>
          <a:solidFill>
            <a:srgbClr val="00B4D8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4983480" y="2221992"/>
            <a:ext cx="164592" cy="164592"/>
          </a:xfrm>
          <a:prstGeom prst="rightArrow">
            <a:avLst/>
          </a:prstGeom>
          <a:solidFill>
            <a:srgbClr val="00B4D8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287768" y="2221992"/>
            <a:ext cx="164592" cy="164592"/>
          </a:xfrm>
          <a:prstGeom prst="rightArrow">
            <a:avLst/>
          </a:prstGeom>
          <a:solidFill>
            <a:srgbClr val="00B4D8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592056" y="2221992"/>
            <a:ext cx="164592" cy="164592"/>
          </a:xfrm>
          <a:prstGeom prst="rightArrow">
            <a:avLst/>
          </a:prstGeom>
          <a:solidFill>
            <a:srgbClr val="00B4D8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160520"/>
            <a:ext cx="11185855" cy="502920"/>
          </a:xfrm>
          <a:prstGeom prst="rect">
            <a:avLst/>
          </a:prstGeom>
          <a:solidFill>
            <a:srgbClr val="1B1F2A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E8E8E8"/>
                </a:solidFill>
                <a:latin typeface="Consolas"/>
              </a:rPr>
              <a:t>INTER-STAGE VALIDATION   ·   Stage 1→2: σ desmoothed &gt; σ observed   ·   Stage 2→3: residuals ⊥ factors   ·   Stage 3→4: ∏(1+r_m) = 1+r_Q  within  10⁻¹⁰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54880"/>
            <a:ext cx="11185855" cy="50292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E8E8E8"/>
                </a:solidFill>
                <a:latin typeface="Consolas"/>
              </a:rPr>
              <a:t>POST-PIPELINE SANITY ANCHORS   ·   vol-ratio ∈ [0.5×, 3.0×]  proxy   ·   ρ ∈ [0.4, 0.95]   ·   crisis DD ≥ 50%·proxy   ·   β within leverage band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49240"/>
            <a:ext cx="11185855" cy="502920"/>
          </a:xfrm>
          <a:prstGeom prst="rect">
            <a:avLst/>
          </a:prstGeom>
          <a:solidFill>
            <a:srgbClr val="1B1F2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E8E8E8"/>
                </a:solidFill>
                <a:latin typeface="Consolas"/>
              </a:rPr>
              <a:t>UNCERTAINTY MODE = 'full'   ·   N posterior draws of (λ, β, σ_ε)  →  pointwise 5/25/50/75/95 percentile bands on disaggregated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FallbackPolicy ∈ {strict, warn, auto} controls escalation of any flagged warning.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Notation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Defined once.  Subscripts denote time;  superscripts denote frequency or component.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s_t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observed (smoothed) return at period 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r_t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true (latent) return at period 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P_t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7180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reported valuation (NAV)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2044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V_t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6616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true (unobservable) market 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6052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AR(1) smoothing parameter ∈ [0, 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0916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θ_j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75488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MA(q) weight at lag j  (Σ θ_j = 1, θ_j ≥ 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0352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4924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AR(1) persistence of daily idiosyncratic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3736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β_k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178308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factor loading on factor 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3172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F_{k,t}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37744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return of factor k at time 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2608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297180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intercept (annualised alpha)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52044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ε_t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356616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idiosyncratic return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σ_ε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416052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idiosyncratic volatility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70916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y_Q  / y_m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475488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low / high-frequency aggregated returns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30352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C, 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5349240"/>
            <a:ext cx="4206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aggregation matrix and residual covariance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Bold-face vectors denote the K-dimensional factor / coefficient stack.  Frequency superscripts (annual / monthly / daily) appear where ambiguity matters.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Appraisal smoothing as AR(1)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Stage 1, Model 1.  PE / Infrastructure / Real Estate.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Valuation dynamics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704088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moothing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667512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089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Implied return relationship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74720"/>
            <a:ext cx="704088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moothing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667512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5262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Inversion (Geltner desmoothing)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92040"/>
            <a:ext cx="7040880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smoo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9200"/>
            <a:ext cx="6675120" cy="1005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18120" y="169164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Assumptions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10312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84832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Smoothing follows a first-order AR process on valuations.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88036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62072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λ is constant within an annual window; may vary seasonally across quarters.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65760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639312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True returns r_t are independent of the smoothing process itself.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4526280"/>
            <a:ext cx="54864" cy="16916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72984" y="4526280"/>
            <a:ext cx="3877056" cy="169164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4617720"/>
            <a:ext cx="3566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4937760"/>
            <a:ext cx="35661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λ is *not* constant in practice — appraisers exercise discretion;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marking activity concentrates in Q4.  Extreme returns trigger non-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linear marking behaviour (e.g., write-down events) that the AR(1)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kernel cannot represent.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Why rolling annual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Quarterly smoothing is seasonal — Q4 carries disproportionate marking activity.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00" cy="13716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mooth_an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694944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3832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Four overlapping annual streams (each starts at a different quarter)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50292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160520"/>
            <a:ext cx="50292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4160520"/>
            <a:ext cx="50292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4160520"/>
            <a:ext cx="50292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42232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onsolas"/>
              </a:rPr>
              <a:t>offset 0:  Q1→Q4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572000"/>
            <a:ext cx="502920" cy="32004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4572000"/>
            <a:ext cx="502920" cy="32004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572000"/>
            <a:ext cx="502920" cy="32004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4572000"/>
            <a:ext cx="502920" cy="32004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553712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D4A843"/>
                </a:solidFill>
                <a:latin typeface="Consolas"/>
              </a:rPr>
              <a:t>offset 1:  Q2→Q1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4983480"/>
            <a:ext cx="502920" cy="32004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4983480"/>
            <a:ext cx="502920" cy="32004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4983480"/>
            <a:ext cx="502920" cy="32004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983480"/>
            <a:ext cx="502920" cy="32004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965192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81B29A"/>
                </a:solidFill>
                <a:latin typeface="Consolas"/>
              </a:rPr>
              <a:t>offset 2:  Q3→Q2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5394960"/>
            <a:ext cx="502920" cy="32004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5394960"/>
            <a:ext cx="502920" cy="32004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5394960"/>
            <a:ext cx="502920" cy="32004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5394960"/>
            <a:ext cx="502920" cy="32004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376672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07A5F"/>
                </a:solidFill>
                <a:latin typeface="Consolas"/>
              </a:rPr>
              <a:t>offset 3:  Q4→Q3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169164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Why this matters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057400"/>
            <a:ext cx="34747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Quarterly λ has Q4 bias from year-end marking.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An annual aggregation smooths the seasonal contamination.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Each offset stream is approximately iid within itself.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Across streams: 3-quarter overlap → 4× effective coverage at the cost of induced autocorrelation.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ESS reported in diagnostics, not naïve 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Single-step vs. two-step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Estimation choice has first-order impact on β bias and σ recovery.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54864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E07A5F"/>
                </a:solidFill>
                <a:latin typeface="Calibri"/>
              </a:rPr>
              <a:t>TWO-STEP   (estimate λ, then regress)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Step 1:  estimate λ̂ from autocorrelation alone.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Step 2:  desmooth using λ̂, regress r_t on F_t.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Errors in λ̂ propagate non-linearly into β.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Risk numbers are biased upward because residual variance absorbs the λ-error.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E07A5F"/>
                </a:solidFill>
                <a:latin typeface="Consolas"/>
              </a:rPr>
              <a:t>MSCI sim:  RMSE(β̂) ≈ 0.35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91640"/>
            <a:ext cx="54864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81B29A"/>
                </a:solidFill>
                <a:latin typeface="Calibri"/>
              </a:rPr>
              <a:t>SINGLE-STEP   (joint estimation)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28600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Treat (λ, β, α, σ_ε) as one parameter vector.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Likelihood evaluated jointly on the AR(1)-implied desmoothed series.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Posterior captures the λ↔β trade-off explicitly.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No noise amplification from a fixed λ̂.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2062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81B29A"/>
                </a:solidFill>
                <a:latin typeface="Consolas"/>
              </a:rPr>
              <a:t>MSCI sim:  RMSE(β̂) ≈ 0.15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548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The joint regression at each λ on the 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12064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cto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257800"/>
            <a:ext cx="10820095" cy="6400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911535" y="612648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26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Factor loadings β are constant over the estimation window.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Bayesian estimation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Grid integration over λ;  conjugate Normal-Inverse-Gamma posterior on (β, α, σ_ε) at each grid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Joint posterior (kernel)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5568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sterior_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78992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089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Marginal posterior on 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74720"/>
            <a:ext cx="1115568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osterior_ma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1078992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5262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Priors (default presets)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37760"/>
            <a:ext cx="640080" cy="32004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B4D8"/>
                </a:solidFill>
                <a:latin typeface="Consolas"/>
              </a:rPr>
              <a:t>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19472"/>
            <a:ext cx="4572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Beta(2, 2)  on  [0, 1]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303520"/>
            <a:ext cx="640080" cy="32004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B4D8"/>
                </a:solidFill>
                <a:latin typeface="Consolas"/>
              </a:rPr>
              <a:t>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85232"/>
            <a:ext cx="4572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𝒩(μ_β, σ²_β)  — strategy-specific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669280"/>
            <a:ext cx="640080" cy="32004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B4D8"/>
                </a:solidFill>
                <a:latin typeface="Consolas"/>
              </a:rPr>
              <a:t>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650992"/>
            <a:ext cx="4572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𝒩(0, 0.05²)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035040"/>
            <a:ext cx="640080" cy="32004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B4D8"/>
                </a:solidFill>
                <a:latin typeface="Consolas"/>
              </a:rPr>
              <a:t>σ_ε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6016752"/>
            <a:ext cx="4572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Inv-Gamma(3, 0.02)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5262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Computation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937760"/>
            <a:ext cx="493776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Grid over λ:  50 points on [0.01, 0.95].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Conditional posterior of (β, α, σ²) at each λ:  Normal-Inv-Gamma → closed form.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Jacobian factor  −n·log(1−λ)  enters the marginal.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Trapezoidal quadrature over the λ grid.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Deterministic, exact up to grid resolution.  No MCMC.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640080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4008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Conjugate NIG structure is appropriate for the regression residuals  (i.i.d. Gaussian).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Vasicek shrinkage &amp; induced priors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Bayesian estimation as data-driven shrinkage; cross-sectional pooling across peer strategies.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Bayesian fit ≡ Vasicek shrinkage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731520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asic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694944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063240"/>
            <a:ext cx="7315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onsolas"/>
              </a:rPr>
              <a:t>w  ≡  signal-to-noise weight  =  σ²_prior / (σ²_prior + σ²_OLS)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Induced prior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69080"/>
            <a:ext cx="365760" cy="36576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50792"/>
            <a:ext cx="68580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alibri"/>
              </a:rPr>
              <a:t>Fit each peer strategy independently with the user prior.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62272"/>
            <a:ext cx="68580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alibri"/>
              </a:rPr>
              <a:t>Empirical cross-section gives mean / std per parameter.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92040"/>
            <a:ext cx="365760" cy="36576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73752"/>
            <a:ext cx="68580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alibri"/>
              </a:rPr>
              <a:t>Use the empirical distribution as the new prior.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303520"/>
            <a:ext cx="365760" cy="36576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85232"/>
            <a:ext cx="68580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alibri"/>
              </a:rPr>
              <a:t>Re-fit and iterate until ‖Δμ‖∞ &lt; tol  or  10 iterations.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Strategy-specific β priors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103120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Large Buyout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2103120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𝒩(1.15, 0.5²)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478024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Early Venture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2478024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𝒩(0.83, 0.25²)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852928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Mezzanine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2852928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𝒩(1.00, 0.5²)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227832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Distressed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3227832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𝒩(1.00, 0.5²)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602736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Infra 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3602736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𝒩(0.50, 0.3²)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977640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Direct Lending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3977640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𝒩(0.70, 0.3²)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352544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Eq L/S (HF)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49840" y="4352544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𝒩(0.40, 0.2²)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727448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Real Estate 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4727448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𝒩(0.60, 0.3²)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40080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64008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Peer-group structure is known and stable  (strategies correctly classified).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Identifiability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The λ ↔ β confound is the central fragility.  We detect it; we do not pretend it isn't there.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Multiple (λ, β) pairs explain the same observed series.</a:t>
            </a:r>
          </a:p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Likelihood surface is shallow along a ridge in λ-direction → posterior may be prior-driven.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Diagnostics shipped with every 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CI(λ) width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182112"/>
            <a:ext cx="85953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warn if  CI₉₀(λ) &gt; 0.4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0332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KL(post‖prior)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85032"/>
            <a:ext cx="85953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warn if  &lt; 0.1 nats   (data uninformative)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β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187952"/>
            <a:ext cx="85953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warn if sign change OR &gt; 50% magnitude swing across λ grid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0916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690872"/>
            <a:ext cx="85953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report effective sample size after autocorrelation correction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49240"/>
            <a:ext cx="54864" cy="10058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" y="5349240"/>
            <a:ext cx="11130991" cy="100584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5440680"/>
            <a:ext cx="1082009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820095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Short histories  (T &lt; 40 quarters)  are essentially uninformative — posterior collapses onto the prior.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Strategies with extreme λ (≈ 0 or ≈ 1) are the worst-conditioned;  uncertainty_mode='full' is mandatory there.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Periods where public/private correlation genuinely changes will trigger β instability flags;  this is correct behaviour.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Hedge fund smoothing is MA(q), not AR(1)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Stage 1, Model 2.  Getmansky, Lo &amp; Makarov (2004).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Smoothing equation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_smoot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3200400"/>
            <a:ext cx="54864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D4A843"/>
                </a:solidFill>
                <a:latin typeface="Calibri"/>
              </a:rPr>
              <a:t>PE  (AR on valuations — catch-up dynamic)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3200400"/>
            <a:ext cx="54864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HF  (MA on returns — staleness)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onsolas"/>
              </a:rPr>
              <a:t>P_t  =  P_{t-1}  +  (1−λ)(V_t − P_{t-1})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70332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onsolas"/>
              </a:rPr>
              <a:t>s_t  =  Σ_{j=0..q}  θ_j r_{t-j}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976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Typical θ profiles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09160"/>
            <a:ext cx="3657600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E8E8E8"/>
                </a:solidFill>
                <a:latin typeface="Calibri"/>
              </a:rPr>
              <a:t>Equity L/S, Macro  (q=2)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4709160"/>
            <a:ext cx="7498079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θ ≈ [0.70, 0.20, 0.10]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20640"/>
            <a:ext cx="3657600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E8E8E8"/>
                </a:solidFill>
                <a:latin typeface="Calibri"/>
              </a:rPr>
              <a:t>Relative Value  (q=3)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5120640"/>
            <a:ext cx="7498079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θ ≈ [0.55, 0.25, 0.15, 0.05]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32120"/>
            <a:ext cx="3657600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E8E8E8"/>
                </a:solidFill>
                <a:latin typeface="Calibri"/>
              </a:rPr>
              <a:t>Event-Driven  (q=4)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5532120"/>
            <a:ext cx="7498079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θ ≈ [0.40, 0.25, 0.20, 0.10, 0.05]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608076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608076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60807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Reported returns are weighted lagged sums of true returns;  weights non-negative and sum to 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MA(q) inversion &amp;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Recovery via banded Toeplitz inversion; Bayesian estimation on the ordered simplex.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Matrix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685800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_i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649224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0632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Identification from autocovariances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1115568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_autoc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1078992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5262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Bayesian extension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37760"/>
            <a:ext cx="54864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Ordered Dirichlet prior:  θ_0 ≥ θ_1 ≥ ... ≥ θ_q.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Default concentration  c = (5, 3, 2, 1)  truncated to length q+1.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q ≤ 3:  grid integration on the ordered simplex.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q &gt; 3:  Laplace approximation around the 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Numerical stability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37760"/>
            <a:ext cx="54864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Hard floor:  θ_0 ≥ 0.2.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Exponential-decay taper on higher lags.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Monitor cond(Θ);  warn if  &gt; 100.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Posterior θ_0 &lt; 0.3  trips the same warning.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40080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64008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Number of lags q is fixed per strategy (or selected via BIC) — not a free parameter at fit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MA(q) fragility &amp;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Inversion noise amplifies exponentially with q.  We build the safety net before the user trips on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RMSE(θ̂)  vs  q  (illustrative)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6035040" cy="329184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440680"/>
            <a:ext cx="6035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A0A8B0"/>
                </a:solidFill>
                <a:latin typeface="Calibri"/>
              </a:rPr>
              <a:t>q  (number of MA lags)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91440" y="3566160"/>
            <a:ext cx="5486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A0A8B0"/>
                </a:solidFill>
                <a:latin typeface="Calibri"/>
              </a:rPr>
              <a:t>RMSE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868680.0" y="4568342.4"/>
            <a:ext cx="1325880.0" cy="153619.19999999925"/>
          </a:xfrm>
          <a:prstGeom prst="line">
            <a:avLst/>
          </a:prstGeom>
          <a:ln w="3048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194560.0" y="4261104.0"/>
            <a:ext cx="1325880.0" cy="307238.4000000004"/>
          </a:xfrm>
          <a:prstGeom prst="line">
            <a:avLst/>
          </a:prstGeom>
          <a:ln w="3048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520440.0" y="3407664.0"/>
            <a:ext cx="1325880.0" cy="853440.0"/>
          </a:xfrm>
          <a:prstGeom prst="line">
            <a:avLst/>
          </a:prstGeom>
          <a:ln w="3048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846320.0" y="2639568.0"/>
            <a:ext cx="1325880.0" cy="768096.0"/>
          </a:xfrm>
          <a:prstGeom prst="line">
            <a:avLst/>
          </a:prstGeom>
          <a:ln w="3048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0" y="25024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onsolas"/>
              </a:rPr>
              <a:t>T=80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68680.0" y="4721961.6"/>
            <a:ext cx="1325880.0" cy="102412.80000000075"/>
          </a:xfrm>
          <a:prstGeom prst="line">
            <a:avLst/>
          </a:prstGeom>
          <a:ln w="3048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194560.0" y="4517136.0"/>
            <a:ext cx="1325880.0" cy="204825.59999999963"/>
          </a:xfrm>
          <a:prstGeom prst="line">
            <a:avLst/>
          </a:prstGeom>
          <a:ln w="3048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520440.0" y="4090416.0"/>
            <a:ext cx="1325880.0" cy="426720.0"/>
          </a:xfrm>
          <a:prstGeom prst="line">
            <a:avLst/>
          </a:prstGeom>
          <a:ln w="3048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846320.0" y="3407664.0"/>
            <a:ext cx="1325880.0" cy="682752.0"/>
          </a:xfrm>
          <a:prstGeom prst="line">
            <a:avLst/>
          </a:prstGeom>
          <a:ln w="3048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0" y="3270504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D4A843"/>
                </a:solidFill>
                <a:latin typeface="Consolas"/>
              </a:rPr>
              <a:t>T=150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68680.0" y="4824374.4"/>
            <a:ext cx="1325880.0" cy="68275.19999999925"/>
          </a:xfrm>
          <a:prstGeom prst="line">
            <a:avLst/>
          </a:prstGeom>
          <a:ln w="30480">
            <a:solidFill>
              <a:srgbClr val="81B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4560.0" y="4721961.6"/>
            <a:ext cx="1325880.0" cy="102412.80000000075"/>
          </a:xfrm>
          <a:prstGeom prst="line">
            <a:avLst/>
          </a:prstGeom>
          <a:ln w="30480">
            <a:solidFill>
              <a:srgbClr val="81B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520440.0" y="4602480.0"/>
            <a:ext cx="1325880.0" cy="119481.59999999963"/>
          </a:xfrm>
          <a:prstGeom prst="line">
            <a:avLst/>
          </a:prstGeom>
          <a:ln w="30480">
            <a:solidFill>
              <a:srgbClr val="81B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46320.0" y="4346448.0"/>
            <a:ext cx="1325880.0" cy="256032.0"/>
          </a:xfrm>
          <a:prstGeom prst="line">
            <a:avLst/>
          </a:prstGeom>
          <a:ln w="30480">
            <a:solidFill>
              <a:srgbClr val="81B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0" y="42092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81B29A"/>
                </a:solidFill>
                <a:latin typeface="Consolas"/>
              </a:rPr>
              <a:t>T=300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2743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A0A8B0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074920"/>
            <a:ext cx="2743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A0A8B0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074920"/>
            <a:ext cx="2743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A0A8B0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074920"/>
            <a:ext cx="2743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A0A8B0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074920"/>
            <a:ext cx="2743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A0A8B0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69164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Mitigations layered into the 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103120"/>
            <a:ext cx="484632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Aggressive priors → ordered-Dirichlet keeps θ_0 large.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Exponential-decay prior on tail lags.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Cap at q ≤ 3 for grid integration.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Auto-fallback chain: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–  cond(Θ) &gt; 100  →  reduce q by 1.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–  q = 1 still fails  →  fall back to AR(1).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–  posterior θ_0 &lt; 0.3  →  warn and surface in result.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577840"/>
            <a:ext cx="54864" cy="7772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7784" y="5577840"/>
            <a:ext cx="11130991" cy="77724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669280"/>
            <a:ext cx="1082009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989320"/>
            <a:ext cx="108200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Above q=3 with T&lt;150, identification is essentially gone.  The estimator can hit the prior mode and produce an artificially smooth θ — diagnostics will fire, but the user must act on them.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Threshold AR(1) — private credit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Stage 1, Model 3.  Two regimes selected by an exogenous indicator.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Smoothing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089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Regime semantics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0440"/>
            <a:ext cx="1371600" cy="5029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3520440"/>
            <a:ext cx="22860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00B4D8"/>
                </a:solidFill>
                <a:latin typeface="Consolas"/>
              </a:rPr>
              <a:t>λ_high  ∈  [0.5, 0.9]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3520440"/>
            <a:ext cx="7498079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E8E8E8"/>
                </a:solidFill>
                <a:latin typeface="Calibri"/>
              </a:rPr>
              <a:t>Loans carried at par;  minimal marking activity.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1371600" cy="50292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Stress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4069080"/>
            <a:ext cx="22860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00B4D8"/>
                </a:solidFill>
                <a:latin typeface="Consolas"/>
              </a:rPr>
              <a:t>λ_low  ∈  [0.0, 0.3]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4069080"/>
            <a:ext cx="7498079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E8E8E8"/>
                </a:solidFill>
                <a:latin typeface="Calibri"/>
              </a:rPr>
              <a:t>Forced marking to reality;  fast NAV adjustment.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Stage 0 carry / MTM decomposition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2064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redit_de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57800"/>
            <a:ext cx="10820095" cy="6400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02920" y="626364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626364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62636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Returns decomposable into deterministic carry + stochastic MTM;  regime is exogenous and observable.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Threshold AR(1) estimation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2-D conjugate posterior;  every shortcut here has a cost we surface upfront.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486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2-D grid over (λ_high, λ_low) — typically 30 × 30.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At each pair: NIG conditional posterior on (β, α, σ_ε).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Regime-aware Jacobian: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–  −n_n · log(1−λ_high)  −  n_s · log(1−λ_low)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Marginalise via 2-D trapezoidal quadrature.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Priors:  λ_high ~ Beta(5,2),  λ_low ~ Beta(2,5).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303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A0A8B0"/>
                </a:solidFill>
                <a:latin typeface="Calibri"/>
              </a:rPr>
              <a:t>•  Real regimes are continuum, not binary.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A0A8B0"/>
                </a:solidFill>
                <a:latin typeface="Calibri"/>
              </a:rPr>
              <a:t>•  Exogenous threshold introduces look-ahead bias if calibrated in-sample.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A0A8B0"/>
                </a:solidFill>
                <a:latin typeface="Calibri"/>
              </a:rPr>
              <a:t>•  Carry/MTM split assumes y_t deterministic — only approximate.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A0A8B0"/>
                </a:solidFill>
                <a:latin typeface="Calibri"/>
              </a:rPr>
              <a:t>•  Stress-regime sample size is structurally small;  posterior is prior-driven.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572000"/>
            <a:ext cx="11185855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FALLBACK CHAIN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regime indicator missing  →  degrade to standard AR(1) on the total return  (lossy but defined).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fewer than min_regime_obs in stress  →  warn and report posterior on λ_high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12648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126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(re-emphasised) regime threshold is fixed and exogenous;  endogenous Markov-switching is out of scope.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Stage 2 — factor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Post-desmoothing OLS / WLS;  residual diagnostics drive Stage 3 / Stage 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Decomposition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ctor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3200400"/>
            <a:ext cx="3530498" cy="45720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Autocorrelation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57600"/>
            <a:ext cx="353049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E8E8E8"/>
                </a:solidFill>
                <a:latin typeface="Consolas"/>
              </a:rPr>
              <a:t>Ljung-Box  at lags  5, 10,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14800"/>
            <a:ext cx="353049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Reject  ⇒  factor model missing a serially-correlated factor.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3200400"/>
            <a:ext cx="3530498" cy="45720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Heteroscedasticity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6298" y="3657600"/>
            <a:ext cx="353049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E8E8E8"/>
                </a:solidFill>
                <a:latin typeface="Consolas"/>
              </a:rPr>
              <a:t>ARCH-LM  at  nlags =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6298" y="4114800"/>
            <a:ext cx="353049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Reject  ⇒  fit GARCH-style residuals at Stage 4 simulation.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9676" y="3200400"/>
            <a:ext cx="3530498" cy="45720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Normality / tails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9676" y="3657600"/>
            <a:ext cx="353049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E8E8E8"/>
                </a:solidFill>
                <a:latin typeface="Consolas"/>
              </a:rPr>
              <a:t>Jarque-Bera  +  fit  𝒩 / t / skew-t (Hansen 94)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9676" y="4114800"/>
            <a:ext cx="353049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Best-AIC distribution drives Stage 4 Mode B sampling.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32120"/>
            <a:ext cx="11185855" cy="640080"/>
          </a:xfrm>
          <a:prstGeom prst="rect">
            <a:avLst/>
          </a:prstGeom>
          <a:solidFill>
            <a:srgbClr val="2A3038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Cross-strategy residual covariance Σ_ε  drives:  multivariate Stage 3 rotation,  joint Stage 4 simulation.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327648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6327648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632764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Factor loadings stable over the window;  residuals uncorrelated with factors  (else the model is misspecified).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Chow-Lin temporal disaggregation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GLS BLUE solution under a low-frequency aggregation constraint.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Closed-form GLS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13716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ow_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1097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3657600"/>
            <a:ext cx="27432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Chow-Lin (1971)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3657600"/>
            <a:ext cx="402336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E8E8E8"/>
                </a:solidFill>
                <a:latin typeface="Consolas"/>
              </a:rPr>
              <a:t>u_m  ∼  AR(1)  with  ρ ∈ (−1,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3657600"/>
            <a:ext cx="4297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A0A8B0"/>
                </a:solidFill>
                <a:latin typeface="Calibri"/>
              </a:rPr>
              <a:t>Estimate ρ by profile log-likelihood grid.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27432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Fernández (1981)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4206240"/>
            <a:ext cx="402336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E8E8E8"/>
                </a:solidFill>
                <a:latin typeface="Consolas"/>
              </a:rPr>
              <a:t>u_m  ∼  random walk   (ρ =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4206240"/>
            <a:ext cx="4297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A0A8B0"/>
                </a:solidFill>
                <a:latin typeface="Calibri"/>
              </a:rPr>
              <a:t>No ρ estimation;  V = L L′ (cumulative-sum).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54880"/>
            <a:ext cx="27432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Litterman (1983)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4754880"/>
            <a:ext cx="402336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E8E8E8"/>
                </a:solidFill>
                <a:latin typeface="Consolas"/>
              </a:rPr>
              <a:t>Δu_m  ∼  AR(1)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4754880"/>
            <a:ext cx="4297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A0A8B0"/>
                </a:solidFill>
                <a:latin typeface="Calibri"/>
              </a:rPr>
              <a:t>Litterman  ≡  Fernández  at  ρ = 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4068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44068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440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Monthly residual is stationary  (or unit-root)  AR(1);  link  y_m ↔ X_m  is linear.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97880"/>
            <a:ext cx="54864" cy="548640"/>
          </a:xfrm>
          <a:prstGeom prst="rect">
            <a:avLst/>
          </a:prstGeom>
          <a:solidFill>
            <a:srgbClr val="81B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" y="5897880"/>
            <a:ext cx="11130991" cy="54864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989320"/>
            <a:ext cx="1082009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81B29A"/>
                </a:solidFill>
                <a:latin typeface="Calibri"/>
              </a:rPr>
              <a:t>STAGE 3 → 4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6309360"/>
            <a:ext cx="10820095" cy="45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Validated:  the round-trip aggregation  ∏(1+r_m) = 1+r_Q  holds to  10⁻¹⁰  across all three methods.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Multiplicative vs. additive aggregation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The arithmetic-vs-geometric drift is material for PE-magnitude returns.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Aggregation constraint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gg_constr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089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Numerical illustration  ·  Q4 2008,  r_Q = −22%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0440"/>
            <a:ext cx="54864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E07A5F"/>
                </a:solidFill>
                <a:latin typeface="Calibri"/>
              </a:rPr>
              <a:t>ADDITIVE  (linear approximation)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onsolas"/>
              </a:rPr>
              <a:t>r_m,1  +  r_m,2  +  r_m,3  =  −22.0%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A0A8B0"/>
                </a:solidFill>
                <a:latin typeface="Consolas"/>
              </a:rPr>
              <a:t>→  per-month  =  −7.33%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520440"/>
            <a:ext cx="54864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81B29A"/>
                </a:solidFill>
                <a:latin typeface="Calibri"/>
              </a:rPr>
              <a:t>MULTIPLICATIVE  (exact)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06908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onsolas"/>
              </a:rPr>
              <a:t>(1+r_m,1)(1+r_m,2)(1+r_m,3) = 0.78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52628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81B29A"/>
                </a:solidFill>
                <a:latin typeface="Consolas"/>
              </a:rPr>
              <a:t>→  per-month  =  −7.94%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212080"/>
            <a:ext cx="11185855" cy="822960"/>
          </a:xfrm>
          <a:prstGeom prst="rect">
            <a:avLst/>
          </a:prstGeom>
          <a:solidFill>
            <a:srgbClr val="2A3038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Drift  =  61 bps per month  =  ~190 bps over the quarter.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Material for VaR / capital;  default is multiplicative.  Algebra runs in log-space → exponentiate at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Chow-Lin: defending its use in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A common critique deserves a direct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185855" cy="777240"/>
          </a:xfrm>
          <a:prstGeom prst="rect">
            <a:avLst/>
          </a:prstGeom>
          <a:solidFill>
            <a:srgbClr val="2A3038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E07A5F"/>
                </a:solidFill>
                <a:latin typeface="Calibri"/>
              </a:rPr>
              <a:t>CRITIQUE  ·  "Chow-Lin is a macro-econometrics tool.  Why are you using it on finance returns?"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Rebuttal  ·  what makes it valid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11185855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The factor model gives us indicators.  PE return  =  β · F  +  ε.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Linearity (A15) is satisfied by construction — we are not assuming it of the underlying economic process; we built it.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Chow-Lin then distributes the residual ε under an AR(1) covariance — exactly what Stage 2 fits.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Multiplicative aggregation (A18 implicit) is enforced via log-space algebra → no compounding drift.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120640"/>
            <a:ext cx="54864" cy="132588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" y="5120640"/>
            <a:ext cx="11130991" cy="132588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5212080"/>
            <a:ext cx="1082009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532120"/>
            <a:ext cx="1082009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Chow-Lin distributes the residual *linearly*.  Factor exposures with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option-like payoffs (deep-OTM VC, distressed credit equity-kicker)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violate this — Stage 4 simulation Mode B is the right tool there.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For 21:1 monthly-to-daily ratios the dense Toeplitz inversion is the slow leg;  banded scipy primitives are the recommended swap.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Stage 4 Mode A — Kalman smoother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Daily point estimate via state-space BLUE on the AR(1) idiosyncratic.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State-space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640080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alman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603504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40880" y="2057400"/>
            <a:ext cx="466344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alman_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194560"/>
            <a:ext cx="42976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3200400"/>
            <a:ext cx="111556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Run forward filter + Rauch-Tung-Striebel smoother  →  ε̂_d = E[ε_d | all monthly observations].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Equivalent in BLUE form:  ε̂ = V·C′(CVC′)⁻¹·ε^month  with V = AR(1) covariance.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Total daily return:   r_d  =  β·F_d  +  α/n_d  +  ε̂_d.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Multiplicative round-trip preserved exactly via log-space workspace.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Conditional expectation — *not* a sampled realisation.  Use Mode B for VaR.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5216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85216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58521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Daily idiosyncratic is stationary AR(1);  daily systematic = β · F_d  exactly  (no daily β drift).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263640"/>
            <a:ext cx="54864" cy="50292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" y="6263640"/>
            <a:ext cx="11130991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6355080"/>
            <a:ext cx="1082009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6675120"/>
            <a:ext cx="10820095" cy="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Memory:  dense  n × n  AR(1) covariance — fine to ~3000 days, blows up at 30-year daily;  switch to banded scipy primitives.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Stage 4 Mode B — Monte Carlo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N constraint-respecting daily paths for VaR / CVaR / drawdown distributions.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One simulated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m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089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Procedure (per path j)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694944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Draw  (λ, β, σ_ε)  from joint posterior  →  uncertainty propagation.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Generate daily systematic:   r_sys,d  =  β · F_d.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Draw daily idiosyncratic from fitted distribution  𝒟  ∈ {𝒩, t, skew-t}, scaled to daily frequency.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Cross-strategy correlation enforced via Cholesky on Σ_ε   (Gaussian copula).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Within each month, subtract block-mean and add  ε^month / n_d  →  exact constraint.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520440"/>
            <a:ext cx="4023360" cy="246888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OUTPUT TENSOR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paths   ∈   ℝ^(N × T_d × K)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→  pointwise quantiles for VaR, CVaR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→  drawdown distribution per path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→  cross-strategy joint scenarios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63640"/>
            <a:ext cx="54864" cy="502920"/>
          </a:xfrm>
          <a:prstGeom prst="rect">
            <a:avLst/>
          </a:prstGeom>
          <a:solidFill>
            <a:srgbClr val="81B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" y="6263640"/>
            <a:ext cx="11130991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6355080"/>
            <a:ext cx="1082009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81B29A"/>
                </a:solidFill>
                <a:latin typeface="Calibri"/>
              </a:rPr>
              <a:t>CONSTRAINT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675120"/>
            <a:ext cx="10820095" cy="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Round-trip property:  every sampled path satisfies  ∏(1+r_d)_{d∈m} = 1+r_m  exactly.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Model selection by asset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Each preset ships with strategy-specific factor priors and Stage 0 preprocessing.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194560" cy="41148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Asset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691640"/>
            <a:ext cx="2286000" cy="41148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Smoothing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691640"/>
            <a:ext cx="2377440" cy="41148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Key factors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691640"/>
            <a:ext cx="1828800" cy="41148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Typical λ / θ_0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20" y="1691640"/>
            <a:ext cx="2468880" cy="41148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Special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19456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PE — Buyout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2103120"/>
            <a:ext cx="22860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AR(1) Bayesian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2103120"/>
            <a:ext cx="237744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Equity,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103120"/>
            <a:ext cx="18288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λ ∈ [0.4, 0.7]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2103120"/>
            <a:ext cx="246888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Rolling annual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60320"/>
            <a:ext cx="219456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PE — Venture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560320"/>
            <a:ext cx="22860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AR(1) Bayesian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2560320"/>
            <a:ext cx="237744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Small-cap 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2560320"/>
            <a:ext cx="18288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λ ∈ [0.5, 0.8]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56032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Tighter β prior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17520"/>
            <a:ext cx="219456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3017520"/>
            <a:ext cx="22860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AR(1) Bayesian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3017520"/>
            <a:ext cx="237744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Utilities, Inflation, Duration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3017520"/>
            <a:ext cx="18288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λ ∈ [0.5, 0.8]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3017520"/>
            <a:ext cx="246888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Duration + inflation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474720"/>
            <a:ext cx="219456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Private credit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474720"/>
            <a:ext cx="22860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Threshold AR(1)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474720"/>
            <a:ext cx="237744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Credit spreads, Rates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3474720"/>
            <a:ext cx="18288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λ_high / λ_low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347472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Carry / MTM split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931920"/>
            <a:ext cx="219456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HF — Eq L/S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3931920"/>
            <a:ext cx="22860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MA(q=2)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3931920"/>
            <a:ext cx="237744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Equity, SMB, MOM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3931920"/>
            <a:ext cx="18288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θ_0 ∈ [0.6, 0.8]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3931920"/>
            <a:ext cx="246888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Reporting-lag fix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389120"/>
            <a:ext cx="219456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HF — Event-driven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80" y="4389120"/>
            <a:ext cx="22860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MA(q=4)*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4389120"/>
            <a:ext cx="237744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Equity, Credit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60920" y="4389120"/>
            <a:ext cx="18288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θ_0 ∈ [0.3, 0.5]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438912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Higher illiquidity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846320"/>
            <a:ext cx="219456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Managed futures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4846320"/>
            <a:ext cx="22860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NoSmoothing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846320"/>
            <a:ext cx="237744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Trend factors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4846320"/>
            <a:ext cx="18288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4846320"/>
            <a:ext cx="246888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Exchange-traded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303520"/>
            <a:ext cx="219456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Real estate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97480" y="5303520"/>
            <a:ext cx="22860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AR(1) Bayesian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83480" y="5303520"/>
            <a:ext cx="237744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REITs, Rates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5303520"/>
            <a:ext cx="18288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λ ∈ [0.6, 0.85]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530352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Q4 seasonality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A0A8B0"/>
                </a:solidFill>
                <a:latin typeface="Calibri"/>
              </a:rPr>
              <a:t>* This build's grid integration supports q ≤ 3;  Event-Driven preset is pinned to q=3 until Laplace mode ships.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Assumption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Every claim made anywhere in this deck.  Photograph this slide.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64008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554480"/>
            <a:ext cx="402336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Assumption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1554480"/>
            <a:ext cx="310896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Where 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554480"/>
            <a:ext cx="338328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Severity if violated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92024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Smoothing follows AR(1) on valuations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92024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AR(1)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92024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219456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λ constant within annual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19456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AR(1)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19456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6888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246888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True returns independent of smoother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246888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AR(1)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46888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4320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274320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β constant over estimation window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60" y="274320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 + Stage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74320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E07A5F"/>
                </a:solidFill>
                <a:latin typeface="Calibri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1752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301752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NIG conjugacy fits residuals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301752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 Bayesian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301752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81B29A"/>
                </a:solidFill>
                <a:latin typeface="Calibri"/>
              </a:rPr>
              <a:t>minor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29184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329184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Peer group structure stable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329184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Induced priors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329184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56616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356616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HF returns are MA(q) of true returns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66360" y="356616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MA(q)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356616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84048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384048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θ_j ≥ 0 and Σ θ_j =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60" y="384048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MA(q)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384048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81B29A"/>
                </a:solidFill>
                <a:latin typeface="Calibri"/>
              </a:rPr>
              <a:t>minor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1480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3000" y="411480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q is known (or BIC-selected)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66360" y="411480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MA(q)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411480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38912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438912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Carry / MTM additive decomposition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66360" y="438912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0 credit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438912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66344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466344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Regime is exogenous and observable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66360" y="466344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 threshold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466344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E07A5F"/>
                </a:solidFill>
                <a:latin typeface="Calibri"/>
              </a:rPr>
              <a:t>critical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93776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43000" y="493776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Factor loadings stable over window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66360" y="493776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493776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E07A5F"/>
                </a:solidFill>
                <a:latin typeface="Calibri"/>
              </a:rPr>
              <a:t>critical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21208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3000" y="521208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Residuals ⊥ factors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66360" y="521208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2 → Stage 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521208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E07A5F"/>
                </a:solidFill>
                <a:latin typeface="Calibri"/>
              </a:rPr>
              <a:t>critical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548640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548640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Stage 3 residual ∼ AR(1)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66360" y="548640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3 Chow-Lin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5320" y="548640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76072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43000" y="576072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Linear y_m ↔ X_m relationship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66360" y="576072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3 Chow-Lin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576072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603504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43000" y="603504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Daily idio ∼ stationary AR(1)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66360" y="603504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4A Kalman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5320" y="603504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81B29A"/>
                </a:solidFill>
                <a:latin typeface="Calibri"/>
              </a:rPr>
              <a:t>minor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630936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43000" y="630936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r_sys,d  =  β · F_d  exactly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66360" y="630936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4A Kalman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75320" y="630936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640080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A0A8B0"/>
                </a:solidFill>
                <a:latin typeface="Calibri"/>
              </a:rPr>
              <a:t>Severity legend:  green = minor   ·   gold = moderate   ·   red = critical (output is unreliable if violated).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Known limitations &amp; 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What we are not pretending to solve — and where we expect to extend.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07A5F"/>
                </a:solidFill>
                <a:latin typeface="Calibri"/>
              </a:rPr>
              <a:t>Limitations  (already in production)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Identifiability:  λ ↔ β confound makes outputs prior-sensitive in short histories.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Model risk:  outputs are model-implied paths, not recovered truth.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Factor stability:  β fitted full-sample; time-varying exposures not captured.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Tail allocation:  Chow-Lin distributes residuals linearly within a quarter.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Survivorship / backfill:  PE and HF indices carry both;  desmoothing does not correct them.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MA(q) for q ≥ 4:  Laplace mode pending;  q=3 cap meanwhile.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Long-horizon Kalman:  dense covariance bites past ~3000 daily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Open questions  (research roadmap)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Unified state-space formulation across all stages — elegance vs. modularity / debuggability trade-off.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Fund-level data to estimate λ heterogeneity within a strategy (vs. peer-group pooling).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Time-varying β:  rolling-window vs. DCC vs. Kalman β.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Joint multivariate Chow-Lin with full Σ_ε (currently marginal + within-block rotation).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Daily-level uncertainty bands  (currently propagated through Stage 3 only).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All models are wrong.  These are less wrong than the alternatives — and we know exactly where they're wrong.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