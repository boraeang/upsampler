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Reading private-asset returns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9A227"/>
                </a:solidFill>
                <a:latin typeface="Calibri"/>
              </a:rPr>
              <a:t>Why headline PE / RE volatility is wrong, and how we fix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7EAEE"/>
                </a:solidFill>
                <a:latin typeface="Calibri"/>
              </a:rPr>
              <a:t>private_assets_frequency  ·  methodology overview for CIO / risk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7EAEE"/>
                </a:solidFill>
                <a:latin typeface="Calibri"/>
              </a:rPr>
              <a:t>Quantitative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problem with raw PE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Headline volatility is roughly half of the truth — and the diversification benefit is overstated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B365D"/>
                </a:solidFill>
                <a:latin typeface="Calibri"/>
              </a:rPr>
              <a:t>• Private-equity, real-estate, infrastructure and hedge-fund indices are *appraisal-based* or *NAV-based*.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B365D"/>
                </a:solidFill>
                <a:latin typeface="Calibri"/>
              </a:rPr>
              <a:t>• Reported returns smooth genuine market moves over multiple quarters — appraisers anchor on the prior NAV.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B365D"/>
                </a:solidFill>
                <a:latin typeface="Calibri"/>
              </a:rPr>
              <a:t>• Result: headline σ understates true risk by 50%+.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B365D"/>
                </a:solidFill>
                <a:latin typeface="Calibri"/>
              </a:rPr>
              <a:t>• Result: correlation with public markets looks artificially low — diversification benefit is overstated.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B365D"/>
                </a:solidFill>
                <a:latin typeface="Calibri"/>
              </a:rPr>
              <a:t>• Risk numbers built from the raw series — VaR, drawdown, capital ratios — are dangerously optimistic.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B365D"/>
                </a:solidFill>
                <a:latin typeface="Calibri"/>
              </a:rPr>
              <a:t>• This is well-documented (Geltner 1993; Getmansky-Lo-Makarov 2004).  It is not a controversial finding.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840480" cy="320040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Typical observation</a:t>
            </a:r>
          </a:p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/>
            </a:r>
          </a:p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US Buyout headline σ:  ~10%</a:t>
            </a:r>
          </a:p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Levered Russell 2000 σ:  ~25%</a:t>
            </a:r>
          </a:p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/>
            </a:r>
          </a:p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Headline PE σ ≈ 0.4× public.</a:t>
            </a:r>
          </a:p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True PE σ ≈ 1.0–1.2× public.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E68"/>
                </a:solidFill>
                <a:latin typeface="Calibri"/>
              </a:rPr>
              <a:t>private_assets_frequency  ·  Methodology overview for CIO / risk committee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E6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the smoothing actually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Same underlying economic event, two very different reported series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219456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Public market (Russell 2000)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Q3 2008:    -8.7%</a:t>
            </a:r>
          </a:p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Q4 2008:   -26.0%</a:t>
            </a:r>
          </a:p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Q1 2009:    -14.7%</a:t>
            </a:r>
          </a:p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→ Drawdown clearly visible quarter-by-quarter.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486400" cy="219456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Reported PE index (representative)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029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Q3 2008:    -3.2%</a:t>
            </a:r>
          </a:p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Q4 2008:   -10.5%</a:t>
            </a:r>
          </a:p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Q1 2009:     -6.8%</a:t>
            </a:r>
          </a:p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→ Same crisis, but spread over more quarters.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11064240" cy="210312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What's actually happening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Both portfolios suffered the same economic shock.  The PE index reports a softer drawdown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because appraisals rely heavily on the previous quarter's NAV, then revise toward reality slowly.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Build a VaR model on the PE numbers and you will under-reserve in a crisis.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E68"/>
                </a:solidFill>
                <a:latin typeface="Calibri"/>
              </a:rPr>
              <a:t>private_assets_frequency  ·  Methodology overview for CIO / risk committee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E6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the smoothing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Three mechanisms, all with the same statistical signature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743200" cy="118872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Appraisal anchoring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63040"/>
            <a:ext cx="8229600" cy="11887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1B365D"/>
                </a:solidFill>
                <a:latin typeface="Calibri"/>
              </a:rPr>
              <a:t>PE / RE valuations rely on the previous NAV — appraisers move slowly to avoid client dispute.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2743200" cy="118872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Stale 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834640"/>
            <a:ext cx="8229600" cy="11887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1B365D"/>
                </a:solidFill>
                <a:latin typeface="Calibri"/>
              </a:rPr>
              <a:t>Loans in private credit are carried at par for quarters before being written down at a credit event.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2743200" cy="118872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Reporting lag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206240"/>
            <a:ext cx="8229600" cy="11887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1B365D"/>
                </a:solidFill>
                <a:latin typeface="Calibri"/>
              </a:rPr>
              <a:t>Hedge fund returns aggregate constituent reports over 1–2 months — month t reflects month t−1 economics.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868E"/>
                </a:solidFill>
                <a:latin typeface="Calibri"/>
              </a:rPr>
              <a:t>All three produce the same statistical fingerprint:  reported return = (1−λ)·true return + λ·last NAV.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E68"/>
                </a:solidFill>
                <a:latin typeface="Calibri"/>
              </a:rPr>
              <a:t>private_assets_frequency  ·  Methodology overview for CIO / risk committee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E6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desmoothing does, in plain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Recover the economic return that actually happened from the smoothed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137160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1B365D"/>
                </a:solidFill>
                <a:latin typeface="Calibri"/>
              </a:rPr>
              <a:t>If reported NAV is a weighted average of last NAV and true return:</a:t>
            </a:r>
          </a:p>
          <a:p>
            <a:pPr algn="ctr"/>
            <a:r>
              <a:rPr sz="1500" b="0">
                <a:solidFill>
                  <a:srgbClr val="1B365D"/>
                </a:solidFill>
                <a:latin typeface="Calibri"/>
              </a:rPr>
              <a:t>reported_t  =  (1 − λ)  ×  true_t   +   λ  ×  reported_{t−1}</a:t>
            </a:r>
          </a:p>
          <a:p>
            <a:pPr algn="ctr"/>
            <a:r>
              <a:rPr sz="1500" b="0">
                <a:solidFill>
                  <a:srgbClr val="1B365D"/>
                </a:solidFill>
                <a:latin typeface="Calibri"/>
              </a:rPr>
              <a:t>then we can invert that relationship to recover true_t.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λ = the smoothing intensity.  We estimate it from the data, with priors from the literature.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66160"/>
            <a:ext cx="3657600" cy="640080"/>
          </a:xfrm>
          <a:prstGeom prst="round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λ ≈ 0.0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51960"/>
            <a:ext cx="3657600" cy="128016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B365D"/>
                </a:solidFill>
                <a:latin typeface="Calibri"/>
              </a:rPr>
              <a:t>No smoothing.
Managed-futures, exchange-traded.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566160"/>
            <a:ext cx="3657600" cy="64008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λ ≈ 0.5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251960"/>
            <a:ext cx="3657600" cy="128016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B365D"/>
                </a:solidFill>
                <a:latin typeface="Calibri"/>
              </a:rPr>
              <a:t>Moderate smoothing.
Typical buyout / infrastructure.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566160"/>
            <a:ext cx="3657600" cy="640080"/>
          </a:xfrm>
          <a:prstGeom prst="round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λ ≈ 0.85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4251960"/>
            <a:ext cx="3657600" cy="128016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B365D"/>
                </a:solidFill>
                <a:latin typeface="Calibri"/>
              </a:rPr>
              <a:t>Heavy smoothing.
Real estate / venture capital.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The output is the *economic* return path consistent with the reported series — what you would have seen with daily marks.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E68"/>
                </a:solidFill>
                <a:latin typeface="Calibri"/>
              </a:rPr>
              <a:t>private_assets_frequency  ·  Methodology overview for CIO / risk committee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E6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the pipeline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Five stages.  Each stage is replaceable;  the same plumbing handles every asset class.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103120" cy="457200"/>
          </a:xfrm>
          <a:prstGeom prst="roundRect">
            <a:avLst/>
          </a:prstGeom>
          <a:solidFill>
            <a:srgbClr val="2E868E"/>
          </a:solidFill>
          <a:ln w="9525">
            <a:solidFill>
              <a:srgbClr val="2E8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Stage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2103120" cy="45720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468880"/>
            <a:ext cx="2103120" cy="146304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B365D"/>
                </a:solidFill>
                <a:latin typeface="Calibri"/>
              </a:rPr>
              <a:t>Carry/MTM split for credit;
lag fix for HF;
pass-through otherwise.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743200"/>
            <a:ext cx="274320" cy="137160"/>
          </a:xfrm>
          <a:prstGeom prst="rightArrow">
            <a:avLst/>
          </a:prstGeom>
          <a:solidFill>
            <a:srgbClr val="555E68"/>
          </a:solidFill>
          <a:ln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1554480"/>
            <a:ext cx="2103120" cy="45720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011680"/>
            <a:ext cx="2103120" cy="45720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Desmoothing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468880"/>
            <a:ext cx="2103120" cy="146304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B365D"/>
                </a:solidFill>
                <a:latin typeface="Calibri"/>
              </a:rPr>
              <a:t>Estimate λ from the data,
recover the economic path,
emit identifiability checks.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46320" y="2743200"/>
            <a:ext cx="274320" cy="137160"/>
          </a:xfrm>
          <a:prstGeom prst="rightArrow">
            <a:avLst/>
          </a:prstGeom>
          <a:solidFill>
            <a:srgbClr val="555E68"/>
          </a:solidFill>
          <a:ln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1554480"/>
            <a:ext cx="2103120" cy="45720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2103120" cy="45720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Factor decomposition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468880"/>
            <a:ext cx="2103120" cy="146304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B365D"/>
                </a:solidFill>
                <a:latin typeface="Calibri"/>
              </a:rPr>
              <a:t>Regress on public-market
factors; extract residual
distribution.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23760" y="2743200"/>
            <a:ext cx="274320" cy="137160"/>
          </a:xfrm>
          <a:prstGeom prst="rightArrow">
            <a:avLst/>
          </a:prstGeom>
          <a:solidFill>
            <a:srgbClr val="555E68"/>
          </a:solidFill>
          <a:ln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0" y="1554480"/>
            <a:ext cx="2103120" cy="45720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2011680"/>
            <a:ext cx="2103120" cy="45720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Temporal disaggregation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2468880"/>
            <a:ext cx="2103120" cy="146304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B365D"/>
                </a:solidFill>
                <a:latin typeface="Calibri"/>
              </a:rPr>
              <a:t>Push quarterly → monthly
(or monthly → daily)
while preserving cumulative returns.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01200" y="2743200"/>
            <a:ext cx="274320" cy="137160"/>
          </a:xfrm>
          <a:prstGeom prst="rightArrow">
            <a:avLst/>
          </a:prstGeom>
          <a:solidFill>
            <a:srgbClr val="555E68"/>
          </a:solidFill>
          <a:ln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0" y="1554480"/>
            <a:ext cx="2103120" cy="45720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2011680"/>
            <a:ext cx="2103120" cy="45720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Daily extension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2468880"/>
            <a:ext cx="2103120" cy="146304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B365D"/>
                </a:solidFill>
                <a:latin typeface="Calibri"/>
              </a:rPr>
              <a:t>Either a smoothed daily
path (backtest) or N
simulation paths (VaR).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572000"/>
            <a:ext cx="11430000" cy="64008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At every stage:  validation gate (e.g. Stage 3 → Stage 4 round-trip aggregation &lt; 1e-10) + diagnostic warnings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349240"/>
            <a:ext cx="11430000" cy="64008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At the end:  sanity anchors against a public proxy — vol, correlation, crisis drawdown, beta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E68"/>
                </a:solidFill>
                <a:latin typeface="Calibri"/>
              </a:rPr>
              <a:t>private_assets_frequency  ·  Methodology overview for CIO / risk committee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E6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Coverage across asset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One library, asset-class-specific priors and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4023360" cy="50292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Asset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3108960" cy="50292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Smoothing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554480"/>
            <a:ext cx="1828800" cy="50292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Native frequency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554480"/>
            <a:ext cx="2468880" cy="50292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Stage 0 preprocessing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4023360" cy="5029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Private equity (buyout, VC, mezz, distressed)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057400"/>
            <a:ext cx="3108960" cy="5029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AR(1) Bayesian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057400"/>
            <a:ext cx="1828800" cy="5029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Quarterly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057400"/>
            <a:ext cx="2468880" cy="5029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0320"/>
            <a:ext cx="40233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Private infrastructure (core, opportunistic)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560320"/>
            <a:ext cx="31089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AR(1) Bayesian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560320"/>
            <a:ext cx="18288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Quarterly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560320"/>
            <a:ext cx="24688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4023360" cy="5029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Private credit (direct lending, senior debt)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063240"/>
            <a:ext cx="3108960" cy="5029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Threshold AR(1)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3063240"/>
            <a:ext cx="1828800" cy="5029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Quarterly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3063240"/>
            <a:ext cx="2468880" cy="5029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Carry / MTM split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66160"/>
            <a:ext cx="40233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Hedge funds (eq L/S, macro, event, RV)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566160"/>
            <a:ext cx="31089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MA(q) Getmansky-Lo-Makarov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3566160"/>
            <a:ext cx="18288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Monthly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3566160"/>
            <a:ext cx="24688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Reporting-lag adjustment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69080"/>
            <a:ext cx="4023360" cy="5029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Hedge funds (managed futures)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069080"/>
            <a:ext cx="3108960" cy="5029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NoSmoothing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4069080"/>
            <a:ext cx="1828800" cy="5029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Monthly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069080"/>
            <a:ext cx="2468880" cy="5029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72000"/>
            <a:ext cx="40233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Private real estate (core)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572000"/>
            <a:ext cx="31089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AR(1) Bayesian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4572000"/>
            <a:ext cx="18288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Quarterly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4572000"/>
            <a:ext cx="24688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Each preset ships with strategy-specific factor priors (β, α) calibrated from the literature.
Users can override any parameter for bespoke strategies.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E68"/>
                </a:solidFill>
                <a:latin typeface="Calibri"/>
              </a:rPr>
              <a:t>private_assets_frequency  ·  Methodology overview for CIO / risk committee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E6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we know it's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Independent of the desmoother — these are the cross-checks the risk committee can read directly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54864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Volatility anchor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40680" cy="64008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Desmoothed σ within 0.5×–3.0× public proxy 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40680" cy="10972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1B365D"/>
                </a:solidFill>
                <a:latin typeface="Calibri"/>
              </a:rPr>
              <a:t>Catches under-correction (still smoothed) and over-correction.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5440680" cy="54864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Correlation anchor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011680"/>
            <a:ext cx="5440680" cy="64008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Desmoothed correlation with public proxy in [0.4, 0.95].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651760"/>
            <a:ext cx="5440680" cy="10972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1B365D"/>
                </a:solidFill>
                <a:latin typeface="Calibri"/>
              </a:rPr>
              <a:t>Below 0.4 → factor model is missing a factor.
Above 0.95 → the output is just the public proxy.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440680" cy="54864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Crisis drawdown anchor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5440680" cy="64008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Desmoothed crisis drawdown ≥ 50% × public proxy's.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20640"/>
            <a:ext cx="5440680" cy="10972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1B365D"/>
                </a:solidFill>
                <a:latin typeface="Calibri"/>
              </a:rPr>
              <a:t>GFC and COVID windows ship as defaults; custom windows configurable.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931920"/>
            <a:ext cx="5440680" cy="54864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Beta anchor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480560"/>
            <a:ext cx="5440680" cy="64008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Estimated β to public proxy consistent with leverage.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5120640"/>
            <a:ext cx="5440680" cy="10972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1B365D"/>
                </a:solidFill>
                <a:latin typeface="Calibri"/>
              </a:rPr>
              <a:t>Unleveraged VC β &gt; 1.5 or buyout β &lt; 0.5 trips a warning.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E68"/>
                </a:solidFill>
                <a:latin typeface="Calibri"/>
              </a:rPr>
              <a:t>private_assets_frequency  ·  Methodology overview for CIO / risk committee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E6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the pipeline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One call returns everything you need for risk and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200400" cy="86868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monthly_returns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463040"/>
            <a:ext cx="7772400" cy="8686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Wide DataFrame — strategies × monthly dates.
Ready for risk / VaR / capital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3200400" cy="86868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daily_returns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423160"/>
            <a:ext cx="7772400" cy="8686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When daily factors are supplied — strategies × business days.
Ready for backtesting and intraday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3200400" cy="86868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warnings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383280"/>
            <a:ext cx="7772400" cy="8686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Plain-English list of any identifiability or sanity-anchor flags.
Surface this to the committee, do not ignore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43400"/>
            <a:ext cx="3200400" cy="868680"/>
          </a:xfrm>
          <a:prstGeom prst="roundRect">
            <a:avLst/>
          </a:prstGeom>
          <a:solidFill>
            <a:srgbClr val="2E868E"/>
          </a:solidFill>
          <a:ln w="9525">
            <a:solidFill>
              <a:srgbClr val="2E8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sanity_anchors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4343400"/>
            <a:ext cx="7772400" cy="8686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Per-strategy vol / correlation / drawdown / beta against a public proxy.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03520"/>
            <a:ext cx="3200400" cy="868680"/>
          </a:xfrm>
          <a:prstGeom prst="round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uncertainty_bands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5303520"/>
            <a:ext cx="7772400" cy="8686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0">
                <a:solidFill>
                  <a:srgbClr val="1B365D"/>
                </a:solidFill>
                <a:latin typeface="Calibri"/>
              </a:rPr>
              <a:t>When uncertainty_mode='full' — 5/25/50/75/95 percentile DataFrames.
Use for stress-testing the model itself.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E68"/>
                </a:solidFill>
                <a:latin typeface="Calibri"/>
              </a:rPr>
              <a:t>private_assets_frequency  ·  Methodology overview for CIO / risk committee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E6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Honest uncertainty:  posterior 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The pipeline tells you how much it does *not*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B365D"/>
                </a:solidFill>
                <a:latin typeface="Calibri"/>
              </a:rPr>
              <a:t>• λ (the smoothing intensity) is estimated, not known.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B365D"/>
                </a:solidFill>
                <a:latin typeface="Calibri"/>
              </a:rPr>
              <a:t>• Two values of λ can fit the same observed series almost equally well — this is real uncertainty.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B365D"/>
                </a:solidFill>
                <a:latin typeface="Calibri"/>
              </a:rPr>
              <a:t>• uncertainty_mode='full' draws 100 samples from the joint posterior and re-runs Stage 3 for each.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B365D"/>
                </a:solidFill>
                <a:latin typeface="Calibri"/>
              </a:rPr>
              <a:t>• Output: 5/25/50/75/95 pointwise percentile bands on the monthly path.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B365D"/>
                </a:solidFill>
                <a:latin typeface="Calibri"/>
              </a:rPr>
              <a:t>• Build VaR on the 95th percentile band, not the median, when the credible interval is wide.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B365D"/>
                </a:solidFill>
                <a:latin typeface="Calibri"/>
              </a:rPr>
              <a:t>• Identifiability diagnostics fire when bands are too wide — the committee sees the warning before the number is 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59" y="1828800"/>
            <a:ext cx="3291840" cy="365760"/>
          </a:xfrm>
          <a:prstGeom prst="roundRect">
            <a:avLst/>
          </a:prstGeom>
          <a:solidFill>
            <a:srgbClr val="C4CDD9"/>
          </a:solidFill>
          <a:ln w="9525">
            <a:solidFill>
              <a:srgbClr val="C4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39" y="2286000"/>
            <a:ext cx="2011680" cy="365760"/>
          </a:xfrm>
          <a:prstGeom prst="roundRect">
            <a:avLst/>
          </a:prstGeom>
          <a:solidFill>
            <a:srgbClr val="8BA0B7"/>
          </a:solidFill>
          <a:ln w="9525">
            <a:solidFill>
              <a:srgbClr val="8BA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79" y="2743200"/>
            <a:ext cx="914400" cy="36576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39" y="3200400"/>
            <a:ext cx="2011680" cy="365760"/>
          </a:xfrm>
          <a:prstGeom prst="roundRect">
            <a:avLst/>
          </a:prstGeom>
          <a:solidFill>
            <a:srgbClr val="8BA0B7"/>
          </a:solidFill>
          <a:ln w="9525">
            <a:solidFill>
              <a:srgbClr val="8BA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3657600"/>
            <a:ext cx="3291840" cy="365760"/>
          </a:xfrm>
          <a:prstGeom prst="roundRect">
            <a:avLst/>
          </a:prstGeom>
          <a:solidFill>
            <a:srgbClr val="C4CDD9"/>
          </a:solidFill>
          <a:ln w="9525">
            <a:solidFill>
              <a:srgbClr val="C4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4630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E68"/>
                </a:solidFill>
                <a:latin typeface="Calibri"/>
              </a:rPr>
              <a:t>Posterior band width (illustrative)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E68"/>
                </a:solidFill>
                <a:latin typeface="Calibri"/>
              </a:rPr>
              <a:t>private_assets_frequency  ·  Methodology overview for CIO / risk committee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E6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this is — and what it isn't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Use the output for risk decisions, but keep the framing straight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548640"/>
          </a:xfrm>
          <a:prstGeom prst="round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486400" cy="548640"/>
          </a:xfrm>
          <a:prstGeom prst="round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What it ISN'T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486400" cy="8686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B365D"/>
                </a:solidFill>
                <a:latin typeface="Calibri"/>
              </a:rPr>
              <a:t>✓  A statistically rigorous, model-implied path of returns consistent with the observed series.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03120"/>
            <a:ext cx="5486400" cy="8686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B365D"/>
                </a:solidFill>
                <a:latin typeface="Calibri"/>
              </a:rPr>
              <a:t>✗  NOT the *true* daily return path — that doesn't exist; it's a conditional expectation.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39"/>
            <a:ext cx="5486400" cy="8686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B365D"/>
                </a:solidFill>
                <a:latin typeface="Calibri"/>
              </a:rPr>
              <a:t>✓  Suitable for VaR, drawdown, capital, and correlation analytics that the raw series fails to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063239"/>
            <a:ext cx="5486400" cy="8686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B365D"/>
                </a:solidFill>
                <a:latin typeface="Calibri"/>
              </a:rPr>
              <a:t>✗  NOT a substitute for fund-level due diligence on individual managers.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486400" cy="8686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B365D"/>
                </a:solidFill>
                <a:latin typeface="Calibri"/>
              </a:rPr>
              <a:t>✓  Transparent about its own uncertainty via diagnostics, sanity anchors, and uncertainty bands.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23360"/>
            <a:ext cx="5486400" cy="8686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B365D"/>
                </a:solidFill>
                <a:latin typeface="Calibri"/>
              </a:rPr>
              <a:t>✗  NOT magic — when the raw data is uninformative, the diagnostics will say so loudly.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83480"/>
            <a:ext cx="5486400" cy="8686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B365D"/>
                </a:solidFill>
                <a:latin typeface="Calibri"/>
              </a:rPr>
              <a:t>✓  Reproducible — same seed, same priors, same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983480"/>
            <a:ext cx="5486400" cy="86868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B365D"/>
                </a:solidFill>
                <a:latin typeface="Calibri"/>
              </a:rPr>
              <a:t>✗  NOT a forecasting tool — it characterises *historical* risk, not future returns.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E68"/>
                </a:solidFill>
                <a:latin typeface="Calibri"/>
              </a:rPr>
              <a:t>private_assets_frequency  ·  Methodology overview for CIO / risk committee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E6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E68"/>
                </a:solidFill>
                <a:latin typeface="Calibri"/>
              </a:rPr>
              <a:t>What to remember when the next risk meeting starts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822960" cy="146304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400" b="1">
                <a:solidFill>
                  <a:srgbClr val="1B365D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371600"/>
            <a:ext cx="10058400" cy="50292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Headline PE / RE / HF risk is wrong by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874520"/>
            <a:ext cx="10058400" cy="9601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B365D"/>
                </a:solidFill>
                <a:latin typeface="Calibri"/>
              </a:rPr>
              <a:t>Reported indices are smoothed.  Building risk numbers on the raw series under-states σ by ~50% and over-states diversification.  This is the literature, not opinion.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822960" cy="146304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400" b="1">
                <a:solidFill>
                  <a:srgbClr val="1B365D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063240"/>
            <a:ext cx="10058400" cy="50292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Desmoothing is an honest, model-driven correction.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3566160"/>
            <a:ext cx="10058400" cy="9601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B365D"/>
                </a:solidFill>
                <a:latin typeface="Calibri"/>
              </a:rPr>
              <a:t>The library implements Geltner / Getmansky-Lo-Makarov / MSCI methodology, with strategy-specific priors and explicit identifiability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822960" cy="1463040"/>
          </a:xfrm>
          <a:prstGeom prst="roundRect">
            <a:avLst/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400" b="1">
                <a:solidFill>
                  <a:srgbClr val="1B365D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4754880"/>
            <a:ext cx="10058400" cy="502920"/>
          </a:xfrm>
          <a:prstGeom prst="round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The output comes with its own quality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5257800"/>
            <a:ext cx="10058400" cy="960120"/>
          </a:xfrm>
          <a:prstGeom prst="roundRect">
            <a:avLst/>
          </a:prstGeom>
          <a:solidFill>
            <a:srgbClr val="E7EAEE"/>
          </a:solidFill>
          <a:ln w="9525">
            <a:solidFill>
              <a:srgbClr val="55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B365D"/>
                </a:solidFill>
                <a:latin typeface="Calibri"/>
              </a:rPr>
              <a:t>Sanity anchors against public proxies, posterior uncertainty bands, and inter-stage validation give the risk committee the receipts before they sign off.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E68"/>
                </a:solidFill>
                <a:latin typeface="Calibri"/>
              </a:rPr>
              <a:t>private_assets_frequency  ·  Methodology overview for CIO / risk committee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55E6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